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SemiBold"/>
      <p:regular r:id="rId201315"/>
    </p:embeddedFont>
    <p:embeddedFont>
      <p:font typeface="Exo Bold"/>
      <p:regular r:id="rId201316"/>
    </p:embeddedFont>
    <p:embeddedFont>
      <p:font typeface="Fira Mono Medium"/>
      <p:regular r:id="rId201317"/>
    </p:embeddedFont>
    <p:embeddedFont>
      <p:font typeface="Fira Mono Bold"/>
      <p:regular r:id="rId201318"/>
    </p:embeddedFont>
    <p:embeddedFont>
      <p:font typeface="Fira Mono"/>
      <p:regular r:id="rId201319"/>
    </p:embeddedFont>
    <p:embeddedFont>
      <p:font typeface="Michroma"/>
      <p:regular r:id="rId201320"/>
    </p:embeddedFont>
    <p:embeddedFont>
      <p:font typeface="MuseoModerno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3770" y="1246822"/>
            <a:ext cx="72134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OPERATING SYSTEMS · SYSTEMS PROGRAMMING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93770" y="1793200"/>
            <a:ext cx="6603835" cy="214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System Calls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Monitoring and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Analysis Tool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93770" y="4027388"/>
            <a:ext cx="1650859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1193770" y="4282976"/>
            <a:ext cx="721342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BTech project 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93770" y="4733469"/>
            <a:ext cx="220121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3770" y="5027116"/>
            <a:ext cx="220121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Team 16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98177" y="4733469"/>
            <a:ext cx="19981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MEMBER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98177" y="5027116"/>
            <a:ext cx="1794922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P.Pavan Sai · 2520030417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99489" y="4733469"/>
            <a:ext cx="199801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MEMBER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99489" y="5027116"/>
            <a:ext cx="199801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U.Ankith · 2520030403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93770" y="5693208"/>
            <a:ext cx="721342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T.Akilesh · 2520030570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8632" y="4731246"/>
            <a:ext cx="12700" cy="782637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4" name="Shape 12"/>
          <p:cNvSpPr/>
          <p:nvPr/>
        </p:nvSpPr>
        <p:spPr>
          <a:xfrm>
            <a:off x="5589944" y="4731246"/>
            <a:ext cx="12700" cy="782637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34543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01 · THE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2844729" cy="239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System calls are the bridge to the 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505002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60589"/>
            <a:ext cx="2844729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Applications use system calls to request protected services from the operating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5881227"/>
            <a:ext cx="2844729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Monitoring reveals what a process asks for, how often, and with what result.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8" name="Text 6"/>
          <p:cNvSpPr/>
          <p:nvPr/>
        </p:nvSpPr>
        <p:spPr>
          <a:xfrm>
            <a:off x="4444889" y="2182912"/>
            <a:ext cx="22532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ADAD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USER SPACE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4889" y="2486124"/>
            <a:ext cx="353051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Application code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444889" y="3048099"/>
            <a:ext cx="35305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Runs the program and requests protected services.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80193" y="2182912"/>
            <a:ext cx="25647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ADAD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KERNEL 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80193" y="2486124"/>
            <a:ext cx="353051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Privileged resources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280193" y="3048099"/>
            <a:ext cx="35305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Manages protected operating-system services.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44889" y="5487789"/>
            <a:ext cx="7365816" cy="579041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44889" y="5676384"/>
            <a:ext cx="73658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000000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SYSTEM CALL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44889" y="6297652"/>
            <a:ext cx="77468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SYSTEM-CALL BOUNDARY CONNECTS THE TWO SPACES.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02 ·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Normal tools hide the behavior we need to study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09217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93405"/>
            <a:ext cx="5333867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Applications continuously request services from the kernel. Generic diagnostics do not make frequency, overhead, and error rates easy to inspect.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8244" y="2564805"/>
            <a:ext cx="5333867" cy="192385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2793405"/>
            <a:ext cx="4876678" cy="1466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Students and developers need a transparent view of user-to-kernel transitions.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Our solution is a user-space C program running on Ubuntu, avoiding kernel modification and reducing development risk.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56447"/>
            <a:ext cx="420607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03 · THE ANALYSIS LENS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556191"/>
            <a:ext cx="4206075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Four objectives turn tracing into analysis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551734"/>
            <a:ext cx="1051494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5272749" y="1254224"/>
            <a:ext cx="8037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72749" y="1520924"/>
            <a:ext cx="3002185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7" name="Text 5"/>
          <p:cNvSpPr/>
          <p:nvPr/>
        </p:nvSpPr>
        <p:spPr>
          <a:xfrm>
            <a:off x="5272749" y="1619349"/>
            <a:ext cx="300228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Monitoring utility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72749" y="2181324"/>
            <a:ext cx="30022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Log system calls made by target child processes.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79826" y="1254224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79826" y="1520924"/>
            <a:ext cx="3002185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1" name="Text 9"/>
          <p:cNvSpPr/>
          <p:nvPr/>
        </p:nvSpPr>
        <p:spPr>
          <a:xfrm>
            <a:off x="8579826" y="1619349"/>
            <a:ext cx="300228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Context-switch overhead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79826" y="2600424"/>
            <a:ext cx="30022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Measure execution time and performance cost.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2749" y="3446165"/>
            <a:ext cx="8441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72749" y="3712865"/>
            <a:ext cx="3002185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72749" y="3811290"/>
            <a:ext cx="300228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Kernel-invocation categories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272749" y="4792365"/>
            <a:ext cx="3002284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Group file management, process control, and information maintenance calls.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79826" y="3446165"/>
            <a:ext cx="8496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79826" y="3712865"/>
            <a:ext cx="3002185" cy="1905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79826" y="3811290"/>
            <a:ext cx="300228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Status and error codes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579826" y="4792365"/>
            <a:ext cx="30022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Record return values and diagnostic errors.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04 · THE TRACE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4648084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tracer follows each user-to-kernel transition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07109"/>
            <a:ext cx="116202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62697"/>
            <a:ext cx="464808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Parent, child, kernel boundary, interception loop, and report output stay connected.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234" y="2295327"/>
            <a:ext cx="5257668" cy="226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84358" y="2549172"/>
            <a:ext cx="2891304" cy="17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Parent Forks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984358" y="3074937"/>
            <a:ext cx="2891304" cy="17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Child Traces &amp; Execs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984358" y="3595444"/>
            <a:ext cx="2891304" cy="17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Intercept Loop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84358" y="4115951"/>
            <a:ext cx="2891304" cy="17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Extract &amp; Report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04965"/>
            <a:ext cx="408423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LINUX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404709"/>
            <a:ext cx="3474653" cy="239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Five Linux APIs make the monitor possible</a:t>
            </a:r>
            <a:endParaRPr lang="en-US" sz="4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497" y="2088654"/>
          <a:ext cx="5821614" cy="914400"/>
        </p:xfrm>
        <a:graphic>
          <a:graphicData uri="http://schemas.openxmlformats.org/drawingml/2006/table">
            <a:tbl>
              <a:tblPr/>
              <a:tblGrid>
                <a:gridCol w="1928070"/>
                <a:gridCol w="3893544"/>
              </a:tblGrid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fork()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Creates the child process to monitor.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96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execvp()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Loads and runs the selected target program.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96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ptrace()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Lets the parent trace and control the child.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waitpid()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Synchronizes the tracer with child stops.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PTRACE_GETREGS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Reads the traced process's CPU registers.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06 · INTERCEPTION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4648084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Interception turns execution into observable events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07109"/>
            <a:ext cx="116202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62697"/>
            <a:ext cx="464808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parent observes boundaries without changing the kernel.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033" y="2317254"/>
            <a:ext cx="5156071" cy="2223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28238" y="2566201"/>
            <a:ext cx="2835506" cy="17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2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Parent Tracer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28238" y="3081818"/>
            <a:ext cx="2835506" cy="17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2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Child Target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28238" y="3592280"/>
            <a:ext cx="2835506" cy="17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2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Kernel Boundary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28238" y="4102742"/>
            <a:ext cx="2835506" cy="17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-12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Kernel / Syscalls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426709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07 · REGISTER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3657509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CPU registers expose the call details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07109"/>
            <a:ext cx="91437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62697"/>
            <a:ext cx="365750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Registers give the tracer a low-level view without changing the kernel.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0E1F4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2269" y="330200"/>
          <a:ext cx="6603835" cy="914400"/>
        </p:xfrm>
        <a:graphic>
          <a:graphicData uri="http://schemas.openxmlformats.org/drawingml/2006/table">
            <a:tbl>
              <a:tblPr/>
              <a:tblGrid>
                <a:gridCol w="1981150"/>
                <a:gridCol w="4622684"/>
              </a:tblGrid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REGISTER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DETAIL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user_regs_struct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Captures the traced process's register state.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orig_rax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Identifies the system-call number.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6996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Other register values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Carry system-call arguments.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Return value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Shows the result or failure status.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08 ·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4648084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report turns raw events into useful evidence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07109"/>
            <a:ext cx="116202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62697"/>
            <a:ext cx="464808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output keeps the signals needed for analysis.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E1F4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4027" y="609600"/>
          <a:ext cx="4648084" cy="914400"/>
        </p:xfrm>
        <a:graphic>
          <a:graphicData uri="http://schemas.openxmlformats.org/drawingml/2006/table">
            <a:tbl>
              <a:tblPr/>
              <a:tblGrid>
                <a:gridCol w="1952179"/>
                <a:gridCol w="2695904"/>
              </a:tblGrid>
              <a:tr h="588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5D5D5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EVIDENCE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D5D5D5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ANALYSIS AND REPORT USE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Frequency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 · Call count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How often the call occurs · Compare activity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Duration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 · Execution time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Latency and overhead · Inspect cost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Status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 · Return value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Success or failure · Identify error codes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  <a:tr h="12850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Category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 · Function group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File, process, or information work · Generate a structured terminal report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34027" y="4888246"/>
            <a:ext cx="4648084" cy="482997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Illustrative example — final output depends on the target program.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6299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09 · THE BUILDING BLOCKS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5689458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toolchain stays close to Linux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09217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93405"/>
            <a:ext cx="2666933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 / C++: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Systems programming and low-level process logic.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32109" y="2793405"/>
            <a:ext cx="266693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Linux / Ubuntu: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Development and testing environment.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3960416"/>
            <a:ext cx="266693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VS Code: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Source editing and project work.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32109" y="3960416"/>
            <a:ext cx="266693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GCC: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Compile source into executable binaries.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4856956"/>
            <a:ext cx="284472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GDB: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Debug execution flow.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54314" y="4679156"/>
            <a:ext cx="2844729" cy="1539081"/>
          </a:xfrm>
          <a:custGeom>
            <a:avLst/>
            <a:gdLst/>
            <a:ahLst/>
            <a:cxnLst/>
            <a:rect l="l" t="t" r="r" b="b"/>
            <a:pathLst>
              <a:path w="2844729" h="1539081">
                <a:moveTo>
                  <a:pt x="0" y="0"/>
                </a:moveTo>
                <a:lnTo>
                  <a:pt x="2844729" y="0"/>
                </a:lnTo>
                <a:lnTo>
                  <a:pt x="2844729" y="1529556"/>
                </a:lnTo>
                <a:arcTo hR="9525" wR="9525" stAng="0" swAng="5400000"/>
                <a:lnTo>
                  <a:pt x="0" y="1539081"/>
                </a:lnTo>
                <a:lnTo>
                  <a:pt x="0" y="0"/>
                </a:lnTo>
                <a:close/>
              </a:path>
            </a:pathLst>
          </a:custGeom>
          <a:solidFill>
            <a:srgbClr val="0E1F40"/>
          </a:solidFill>
          <a:ln/>
        </p:spPr>
      </p:sp>
      <p:sp>
        <p:nvSpPr>
          <p:cNvPr id="11" name="Text 9"/>
          <p:cNvSpPr/>
          <p:nvPr/>
        </p:nvSpPr>
        <p:spPr>
          <a:xfrm>
            <a:off x="3682908" y="4907756"/>
            <a:ext cx="238754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Make / Makefile, POSIX APIs, ptrace: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Automate builds and access Linux process interfaces.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447964" y="2564805"/>
            <a:ext cx="12700" cy="121781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3776266"/>
            <a:ext cx="284472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6" name="Shape 13"/>
          <p:cNvSpPr/>
          <p:nvPr/>
        </p:nvSpPr>
        <p:spPr>
          <a:xfrm>
            <a:off x="3447964" y="3782616"/>
            <a:ext cx="12700" cy="8965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7" name="Shape 14"/>
          <p:cNvSpPr/>
          <p:nvPr/>
        </p:nvSpPr>
        <p:spPr>
          <a:xfrm>
            <a:off x="3454314" y="3776266"/>
            <a:ext cx="284472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5" y="4672806"/>
            <a:ext cx="284472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9" name="Shape 16"/>
          <p:cNvSpPr/>
          <p:nvPr/>
        </p:nvSpPr>
        <p:spPr>
          <a:xfrm>
            <a:off x="3447964" y="4679156"/>
            <a:ext cx="12700" cy="153908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0" name="Shape 17"/>
          <p:cNvSpPr/>
          <p:nvPr/>
        </p:nvSpPr>
        <p:spPr>
          <a:xfrm>
            <a:off x="3454314" y="4672806"/>
            <a:ext cx="2844729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Text 18"/>
          <p:cNvSpPr/>
          <p:nvPr/>
        </p:nvSpPr>
        <p:spPr>
          <a:xfrm>
            <a:off x="190594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2026-10-08T08:32:47Z</dcterms:created>
  <dcterms:modified xsi:type="dcterms:W3CDTF">2026-10-08T08:32:47Z</dcterms:modified>
</cp:coreProperties>
</file>